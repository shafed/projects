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7772400" cy="100584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1217AC5-6BC8-44D6-9F57-4BA790B7C8DC}" v="19" dt="2025-12-06T10:07:31.70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algn="ctr" defTabSz="914400">
              <a:lnSpc>
                <a:spcPct val="90000"/>
              </a:lnSpc>
              <a:buNone/>
            </a:pPr>
            <a:r>
              <a:rPr lang="ru-RU" sz="60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Образец заголовка</a:t>
            </a:r>
            <a:endParaRPr lang="ru-RU" sz="6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ru-RU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ru-RU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ru-RU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46009D9-3135-4F83-AB12-F40C8DFD2876}" type="slidenum">
              <a:rPr lang="ru-RU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the outline text format</a:t>
            </a: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 Outline Level</a:t>
            </a: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Third Outline Level</a:t>
            </a: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Fourth Outline Level</a:t>
            </a: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Fifth Outline Level</a:t>
            </a: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Sixth Outline Level</a:t>
            </a: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ru-RU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Образец заголовка</a:t>
            </a:r>
            <a:endParaRPr lang="ru-RU" sz="4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vert="eaVert" lIns="91440" tIns="45720" rIns="91440" bIns="45720" anchor="t">
            <a:noAutofit/>
          </a:bodyPr>
          <a:lstStyle/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ru-RU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Образец текста</a:t>
            </a: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Второй уровень</a:t>
            </a: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Третий уровень</a:t>
            </a: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Четвертый уровень</a:t>
            </a: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Пятый уровень</a:t>
            </a:r>
          </a:p>
        </p:txBody>
      </p:sp>
      <p:sp>
        <p:nvSpPr>
          <p:cNvPr id="9" name="PlaceHolder 3"/>
          <p:cNvSpPr>
            <a:spLocks noGrp="1"/>
          </p:cNvSpPr>
          <p:nvPr>
            <p:ph type="dt" idx="4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ru-RU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ru-RU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ftr" idx="5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11" name="PlaceHolder 5"/>
          <p:cNvSpPr>
            <a:spLocks noGrp="1"/>
          </p:cNvSpPr>
          <p:nvPr>
            <p:ph type="sldNum" idx="6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ru-RU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4EED3FA-77D9-4A4A-B2BD-B53A78F0EA89}" type="slidenum">
              <a:rPr lang="ru-RU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8724960" y="365040"/>
            <a:ext cx="2628720" cy="5811480"/>
          </a:xfrm>
          <a:prstGeom prst="rect">
            <a:avLst/>
          </a:prstGeom>
          <a:noFill/>
          <a:ln w="0">
            <a:noFill/>
          </a:ln>
        </p:spPr>
        <p:txBody>
          <a:bodyPr vert="eaVert"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ru-RU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Образец заголовка</a:t>
            </a:r>
            <a:endParaRPr lang="ru-RU" sz="4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838080" y="365040"/>
            <a:ext cx="7733880" cy="5811480"/>
          </a:xfrm>
          <a:prstGeom prst="rect">
            <a:avLst/>
          </a:prstGeom>
          <a:noFill/>
          <a:ln w="0">
            <a:noFill/>
          </a:ln>
        </p:spPr>
        <p:txBody>
          <a:bodyPr vert="eaVert" lIns="91440" tIns="45720" rIns="91440" bIns="45720" anchor="t">
            <a:noAutofit/>
          </a:bodyPr>
          <a:lstStyle/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ru-RU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Образец текста</a:t>
            </a: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Второй уровень</a:t>
            </a: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Третий уровень</a:t>
            </a: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Четвертый уровень</a:t>
            </a: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Пятый уровень</a:t>
            </a:r>
          </a:p>
        </p:txBody>
      </p:sp>
      <p:sp>
        <p:nvSpPr>
          <p:cNvPr id="14" name="PlaceHolder 3"/>
          <p:cNvSpPr>
            <a:spLocks noGrp="1"/>
          </p:cNvSpPr>
          <p:nvPr>
            <p:ph type="dt" idx="7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ru-RU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ru-RU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ftr" idx="8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16" name="PlaceHolder 5"/>
          <p:cNvSpPr>
            <a:spLocks noGrp="1"/>
          </p:cNvSpPr>
          <p:nvPr>
            <p:ph type="sldNum" idx="9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ru-RU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6F7D817-8E33-4D79-B3B1-1FD2E43A99E5}" type="slidenum">
              <a:rPr lang="ru-RU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ru-RU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Образец заголовка</a:t>
            </a:r>
            <a:endParaRPr lang="ru-RU" sz="4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ru-RU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Образец текста</a:t>
            </a: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Второй уровень</a:t>
            </a: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Третий уровень</a:t>
            </a: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Четвертый уровень</a:t>
            </a: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Пятый уровень</a:t>
            </a:r>
          </a:p>
        </p:txBody>
      </p:sp>
      <p:sp>
        <p:nvSpPr>
          <p:cNvPr id="19" name="PlaceHolder 3"/>
          <p:cNvSpPr>
            <a:spLocks noGrp="1"/>
          </p:cNvSpPr>
          <p:nvPr>
            <p:ph type="dt" idx="10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ru-RU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ru-RU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 type="ftr" idx="11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21" name="PlaceHolder 5"/>
          <p:cNvSpPr>
            <a:spLocks noGrp="1"/>
          </p:cNvSpPr>
          <p:nvPr>
            <p:ph type="sldNum" idx="12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ru-RU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DA867B9-3AD2-40AA-809C-AD10EEE6F602}" type="slidenum">
              <a:rPr lang="ru-RU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Заголовок раздела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831960" y="1709640"/>
            <a:ext cx="10515240" cy="285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ru-RU" sz="60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Образец заголовка</a:t>
            </a:r>
            <a:endParaRPr lang="ru-RU" sz="6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831960" y="4589640"/>
            <a:ext cx="10515240" cy="149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ru-RU" sz="24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Образец текста</a:t>
            </a:r>
            <a:endParaRPr lang="ru-RU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dt" idx="13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ru-RU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ru-RU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ftr" idx="14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26" name="PlaceHolder 5"/>
          <p:cNvSpPr>
            <a:spLocks noGrp="1"/>
          </p:cNvSpPr>
          <p:nvPr>
            <p:ph type="sldNum" idx="15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ru-RU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1FF4F73-F263-4F01-A0FE-62E23554BF73}" type="slidenum">
              <a:rPr lang="ru-RU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ru-RU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Образец заголовка</a:t>
            </a:r>
            <a:endParaRPr lang="ru-RU" sz="4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ru-RU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Образец текста</a:t>
            </a: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Второй уровень</a:t>
            </a: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Третий уровень</a:t>
            </a: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Четвертый уровень</a:t>
            </a: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Пятый уровень</a:t>
            </a:r>
          </a:p>
        </p:txBody>
      </p:sp>
      <p:sp>
        <p:nvSpPr>
          <p:cNvPr id="29" name="PlaceHolder 3"/>
          <p:cNvSpPr>
            <a:spLocks noGrp="1"/>
          </p:cNvSpPr>
          <p:nvPr>
            <p:ph type="body"/>
          </p:nvPr>
        </p:nvSpPr>
        <p:spPr>
          <a:xfrm>
            <a:off x="617220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ru-RU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Образец текста</a:t>
            </a: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Второй уровень</a:t>
            </a: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Третий уровень</a:t>
            </a: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Четвертый уровень</a:t>
            </a: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Пятый уровень</a:t>
            </a:r>
          </a:p>
        </p:txBody>
      </p:sp>
      <p:sp>
        <p:nvSpPr>
          <p:cNvPr id="30" name="PlaceHolder 4"/>
          <p:cNvSpPr>
            <a:spLocks noGrp="1"/>
          </p:cNvSpPr>
          <p:nvPr>
            <p:ph type="dt" idx="16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ru-RU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ru-RU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5"/>
          <p:cNvSpPr>
            <a:spLocks noGrp="1"/>
          </p:cNvSpPr>
          <p:nvPr>
            <p:ph type="ftr" idx="17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32" name="PlaceHolder 6"/>
          <p:cNvSpPr>
            <a:spLocks noGrp="1"/>
          </p:cNvSpPr>
          <p:nvPr>
            <p:ph type="sldNum" idx="18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ru-RU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EC4EEAB-C051-4860-8E84-811A3C1C0FAC}" type="slidenum">
              <a:rPr lang="ru-RU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Сравнение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8398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ru-RU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Образец заголовка</a:t>
            </a:r>
            <a:endParaRPr lang="ru-RU" sz="4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839880" y="1681200"/>
            <a:ext cx="5157360" cy="823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ru-RU" sz="2400" b="1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Образец текста</a:t>
            </a:r>
            <a:endParaRPr lang="ru-RU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body"/>
          </p:nvPr>
        </p:nvSpPr>
        <p:spPr>
          <a:xfrm>
            <a:off x="839880" y="2505240"/>
            <a:ext cx="5157360" cy="3684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ru-RU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Образец текста</a:t>
            </a: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Второй уровень</a:t>
            </a: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Третий уровень</a:t>
            </a: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Четвертый уровень</a:t>
            </a: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Пятый уровень</a:t>
            </a:r>
          </a:p>
        </p:txBody>
      </p:sp>
      <p:sp>
        <p:nvSpPr>
          <p:cNvPr id="36" name="PlaceHolder 4"/>
          <p:cNvSpPr>
            <a:spLocks noGrp="1"/>
          </p:cNvSpPr>
          <p:nvPr>
            <p:ph type="body"/>
          </p:nvPr>
        </p:nvSpPr>
        <p:spPr>
          <a:xfrm>
            <a:off x="6172200" y="1681200"/>
            <a:ext cx="5182920" cy="823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ru-RU" sz="2400" b="1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Образец текста</a:t>
            </a:r>
            <a:endParaRPr lang="ru-RU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37" name="PlaceHolder 5"/>
          <p:cNvSpPr>
            <a:spLocks noGrp="1"/>
          </p:cNvSpPr>
          <p:nvPr>
            <p:ph type="body"/>
          </p:nvPr>
        </p:nvSpPr>
        <p:spPr>
          <a:xfrm>
            <a:off x="6172200" y="2505240"/>
            <a:ext cx="5182920" cy="3684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ru-RU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Образец текста</a:t>
            </a: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Второй уровень</a:t>
            </a: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Третий уровень</a:t>
            </a: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Четвертый уровень</a:t>
            </a: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Пятый уровень</a:t>
            </a:r>
          </a:p>
        </p:txBody>
      </p:sp>
      <p:sp>
        <p:nvSpPr>
          <p:cNvPr id="38" name="PlaceHolder 6"/>
          <p:cNvSpPr>
            <a:spLocks noGrp="1"/>
          </p:cNvSpPr>
          <p:nvPr>
            <p:ph type="dt" idx="19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ru-RU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ru-RU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7"/>
          <p:cNvSpPr>
            <a:spLocks noGrp="1"/>
          </p:cNvSpPr>
          <p:nvPr>
            <p:ph type="ftr" idx="20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40" name="PlaceHolder 8"/>
          <p:cNvSpPr>
            <a:spLocks noGrp="1"/>
          </p:cNvSpPr>
          <p:nvPr>
            <p:ph type="sldNum" idx="21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ru-RU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BB6585A-3BEB-4FDA-A873-7A207FA63ACE}" type="slidenum">
              <a:rPr lang="ru-RU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ru-RU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Образец заголовка</a:t>
            </a:r>
            <a:endParaRPr lang="ru-RU" sz="4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dt" idx="22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ru-RU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ru-RU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ftr" idx="23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44" name="PlaceHolder 4"/>
          <p:cNvSpPr>
            <a:spLocks noGrp="1"/>
          </p:cNvSpPr>
          <p:nvPr>
            <p:ph type="sldNum" idx="24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ru-RU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D559635-9CAD-4D4F-B12E-122557E00FD5}" type="slidenum">
              <a:rPr lang="ru-RU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dt" idx="25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ru-RU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ru-RU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ftr" idx="26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47" name="PlaceHolder 3"/>
          <p:cNvSpPr>
            <a:spLocks noGrp="1"/>
          </p:cNvSpPr>
          <p:nvPr>
            <p:ph type="sldNum" idx="27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ru-RU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BF1C556-8958-40BC-8EF5-0A1425A1BD81}" type="slidenum">
              <a:rPr lang="ru-RU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Объект с подписью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Образец заголовка</a:t>
            </a:r>
            <a:endParaRPr lang="ru-RU" sz="3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Образец текста</a:t>
            </a: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Второй уровень</a:t>
            </a: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Третий уровень</a:t>
            </a: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Четвертый уровень</a:t>
            </a: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Пятый уровень</a:t>
            </a:r>
          </a:p>
        </p:txBody>
      </p:sp>
      <p:sp>
        <p:nvSpPr>
          <p:cNvPr id="50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ru-RU" sz="16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Образец текста</a:t>
            </a:r>
          </a:p>
        </p:txBody>
      </p:sp>
      <p:sp>
        <p:nvSpPr>
          <p:cNvPr id="51" name="PlaceHolder 4"/>
          <p:cNvSpPr>
            <a:spLocks noGrp="1"/>
          </p:cNvSpPr>
          <p:nvPr>
            <p:ph type="dt" idx="28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ru-RU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ru-RU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PlaceHolder 5"/>
          <p:cNvSpPr>
            <a:spLocks noGrp="1"/>
          </p:cNvSpPr>
          <p:nvPr>
            <p:ph type="ftr" idx="29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53" name="PlaceHolder 6"/>
          <p:cNvSpPr>
            <a:spLocks noGrp="1"/>
          </p:cNvSpPr>
          <p:nvPr>
            <p:ph type="sldNum" idx="30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ru-RU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7DB7AE0-F1A9-4C47-A531-F4C86782FCED}" type="slidenum">
              <a:rPr lang="ru-RU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Рисунок с подписью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Образец заголовка</a:t>
            </a:r>
            <a:endParaRPr lang="ru-RU" sz="3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the outline text format</a:t>
            </a: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 Outline Level</a:t>
            </a: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Third Outline Level</a:t>
            </a: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Fourth Outline Level</a:t>
            </a: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Fifth Outline Level</a:t>
            </a: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Sixth Outline Level</a:t>
            </a: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Seventh Outline Level</a:t>
            </a:r>
          </a:p>
        </p:txBody>
      </p:sp>
      <p:sp>
        <p:nvSpPr>
          <p:cNvPr id="56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ru-RU" sz="16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Образец текста</a:t>
            </a:r>
          </a:p>
        </p:txBody>
      </p:sp>
      <p:sp>
        <p:nvSpPr>
          <p:cNvPr id="57" name="PlaceHolder 4"/>
          <p:cNvSpPr>
            <a:spLocks noGrp="1"/>
          </p:cNvSpPr>
          <p:nvPr>
            <p:ph type="dt" idx="3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ru-RU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ru-RU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PlaceHolder 5"/>
          <p:cNvSpPr>
            <a:spLocks noGrp="1"/>
          </p:cNvSpPr>
          <p:nvPr>
            <p:ph type="ftr" idx="3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59" name="PlaceHolder 6"/>
          <p:cNvSpPr>
            <a:spLocks noGrp="1"/>
          </p:cNvSpPr>
          <p:nvPr>
            <p:ph type="sldNum" idx="3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ru-RU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EC97CCF-2C94-42EF-A572-6E33C62F5013}" type="slidenum">
              <a:rPr lang="ru-RU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algn="ctr" defTabSz="914400">
              <a:lnSpc>
                <a:spcPct val="90000"/>
              </a:lnSpc>
              <a:buNone/>
            </a:pPr>
            <a:r>
              <a:rPr lang="ru-RU" sz="60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Интроспективная сортировка (Introsort)</a:t>
            </a:r>
            <a:endParaRPr lang="ru-RU" sz="6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ctr" defTabSz="914400">
              <a:lnSpc>
                <a:spcPct val="90000"/>
              </a:lnSpc>
              <a:buNone/>
            </a:pPr>
            <a:endParaRPr lang="ru-RU" sz="6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 type="subTitle"/>
          </p:nvPr>
        </p:nvSpPr>
        <p:spPr>
          <a:xfrm>
            <a:off x="1523880" y="3602160"/>
            <a:ext cx="9143640" cy="1655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/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ru-RU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Подготовил: Шапаренко Фёдор Александрович КВБО-11-25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>
              <a:buNone/>
            </a:pPr>
            <a:endParaRPr lang="ru-RU" sz="44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/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ru-RU" sz="2800" b="0" u="none" strike="noStrike">
                <a:solidFill>
                  <a:schemeClr val="dk1"/>
                </a:solidFill>
                <a:effectLst/>
                <a:uFillTx/>
                <a:latin typeface="Aptos"/>
                <a:ea typeface="Aptos"/>
              </a:rPr>
              <a:t>Интроспективная сортировка была разработана Дэвидом Мюссером в 1997 году как решение проблемы деградации производительности быстрой сортировки в худшем случае. Сегодня этот алгоритм реализован в C++ функции std::sort()</a:t>
            </a:r>
            <a:endParaRPr lang="ru-RU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</a:pPr>
            <a:endParaRPr lang="ru-RU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ru-RU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Основная идея</a:t>
            </a:r>
            <a:endParaRPr lang="ru-RU" sz="4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65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/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ru-RU" sz="26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Интроспективная сортировка - это гибридный алгоритм, который объединяет сильные стороны трёх различных алгоритмов сортировки:</a:t>
            </a: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ru-RU" sz="2600" b="1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Быстрая сортировка (QuickSort)</a:t>
            </a:r>
            <a:r>
              <a:rPr lang="ru-RU" sz="26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 - основной алгоритм, эффективный в среднем случае</a:t>
            </a: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ru-RU" sz="2600" b="1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Пирамидальная сортировка (HeapSort)</a:t>
            </a:r>
            <a:r>
              <a:rPr lang="ru-RU" sz="26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 - используется как "страховка" при глубокой рекурсии</a:t>
            </a: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ru-RU" sz="2600" b="1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Сортировка вставками (InsertionSort)</a:t>
            </a:r>
            <a:r>
              <a:rPr lang="ru-RU" sz="26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 - применяется для малых подмассивов</a:t>
            </a: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</a:pPr>
            <a:endParaRPr lang="ru-RU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ru-RU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QuickSort</a:t>
            </a:r>
            <a:endParaRPr lang="ru-RU" sz="4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defTabSz="914400">
              <a:lnSpc>
                <a:spcPct val="90000"/>
              </a:lnSpc>
              <a:buNone/>
            </a:pPr>
            <a:endParaRPr lang="ru-RU" sz="4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67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/>
          <a:p>
            <a:pPr marL="228600" indent="-22860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Arial"/>
              <a:buChar char="•"/>
            </a:pPr>
            <a:r>
              <a:rPr lang="ru-RU" sz="2800" b="0" u="none" strike="noStrike">
                <a:solidFill>
                  <a:schemeClr val="dk1"/>
                </a:solidFill>
                <a:effectLst/>
                <a:uFillTx/>
                <a:latin typeface="Aptos"/>
                <a:ea typeface="Aptos"/>
              </a:rPr>
              <a:t>Выбор опорного элемента (pivot) — выбирается один элемент массива (последний, первый или медиана)</a:t>
            </a:r>
            <a:endParaRPr lang="ru-RU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Arial"/>
              <a:buChar char="•"/>
            </a:pPr>
            <a:r>
              <a:rPr lang="ru-RU" sz="2800" b="0" u="none" strike="noStrike">
                <a:solidFill>
                  <a:schemeClr val="dk1"/>
                </a:solidFill>
                <a:effectLst/>
                <a:uFillTx/>
                <a:latin typeface="Aptos"/>
                <a:ea typeface="Aptos"/>
              </a:rPr>
              <a:t>Разделение (partition) — остальные элементы распределяются в два подмассива: меньшие опорного слева, большие или равные — справа​</a:t>
            </a:r>
            <a:endParaRPr lang="ru-RU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Arial"/>
              <a:buChar char="•"/>
            </a:pPr>
            <a:r>
              <a:rPr lang="ru-RU" sz="2800" b="0" u="none" strike="noStrike">
                <a:solidFill>
                  <a:schemeClr val="dk1"/>
                </a:solidFill>
                <a:effectLst/>
                <a:uFillTx/>
                <a:latin typeface="Aptos"/>
                <a:ea typeface="Aptos"/>
              </a:rPr>
              <a:t>Рекурсия — те же шаги рекурсивно применяются к подмассивам</a:t>
            </a:r>
            <a:endParaRPr lang="ru-RU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</a:pPr>
            <a:endParaRPr lang="ru-RU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ru-RU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Переключение на HeapSort</a:t>
            </a:r>
            <a:endParaRPr lang="ru-RU" sz="4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defTabSz="914400">
              <a:lnSpc>
                <a:spcPct val="90000"/>
              </a:lnSpc>
              <a:buNone/>
            </a:pPr>
            <a:endParaRPr lang="ru-RU" sz="4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69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70000" lnSpcReduction="19999"/>
          </a:bodyPr>
          <a:lstStyle/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ru-RU" sz="2800" b="0" u="none" strike="noStrike">
                <a:solidFill>
                  <a:schemeClr val="dk1"/>
                </a:solidFill>
                <a:effectLst/>
                <a:uFillTx/>
                <a:latin typeface="Aptos"/>
                <a:ea typeface="Aptos"/>
              </a:rPr>
              <a:t>Если устанавливается максимальная глубина рекурсии, равная </a:t>
            </a:r>
            <a:r>
              <a:rPr lang="ru-RU" sz="2800" b="1" u="none" strike="noStrike">
                <a:solidFill>
                  <a:schemeClr val="dk1"/>
                </a:solidFill>
                <a:effectLst/>
                <a:uFillTx/>
                <a:latin typeface="Aptos"/>
                <a:ea typeface="Aptos"/>
              </a:rPr>
              <a:t>2 × log₂(n)</a:t>
            </a:r>
            <a:r>
              <a:rPr lang="ru-RU" sz="2800" b="0" u="none" strike="noStrike">
                <a:solidFill>
                  <a:schemeClr val="dk1"/>
                </a:solidFill>
                <a:effectLst/>
                <a:uFillTx/>
                <a:latin typeface="Aptos"/>
                <a:ea typeface="Aptos"/>
              </a:rPr>
              <a:t>, где n - размер массива, то алгоритм понимает, что попал в неблагоприятный случай, и переключается на пирамидальную сортировку для текущего подмассива. Это гарантирует, что худшая временная сложность не превысит O(n log n).</a:t>
            </a:r>
            <a:endParaRPr lang="ru-RU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Arial"/>
              <a:buChar char="•"/>
            </a:pPr>
            <a:r>
              <a:rPr lang="ru-RU" sz="2800" b="0" u="none" strike="noStrike">
                <a:solidFill>
                  <a:schemeClr val="dk1"/>
                </a:solidFill>
                <a:effectLst/>
                <a:uFillTx/>
                <a:latin typeface="Aptos"/>
                <a:ea typeface="Aptos"/>
              </a:rPr>
              <a:t>Heapsort использует структуру данных «кучу» (heap) — почти полное бинарное дерево, где родитель всегда больше (max-heap) или меньше (min-heap) потомков.​</a:t>
            </a:r>
            <a:endParaRPr lang="ru-RU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Arial"/>
              <a:buChar char="•"/>
            </a:pPr>
            <a:r>
              <a:rPr lang="ru-RU" sz="2800" b="0" u="none" strike="noStrike">
                <a:solidFill>
                  <a:schemeClr val="dk1"/>
                </a:solidFill>
                <a:effectLst/>
                <a:uFillTx/>
                <a:latin typeface="Aptos"/>
                <a:ea typeface="Aptos"/>
              </a:rPr>
              <a:t>Принцип работы</a:t>
            </a:r>
            <a:endParaRPr lang="ru-RU" sz="2800" b="1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864000" lvl="1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800" b="0" u="none" strike="noStrike">
                <a:solidFill>
                  <a:schemeClr val="dk1"/>
                </a:solidFill>
                <a:effectLst/>
                <a:uFillTx/>
                <a:latin typeface="Aptos"/>
                <a:ea typeface="Aptos"/>
              </a:rPr>
              <a:t>Построение кучи (Build-Max-Heap) — массив преобразуется в max-heap, где максимальный элемент находится в корне​</a:t>
            </a:r>
            <a:endParaRPr lang="ru-RU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864000" lvl="1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800" b="0" u="none" strike="noStrike">
                <a:solidFill>
                  <a:schemeClr val="dk1"/>
                </a:solidFill>
                <a:effectLst/>
                <a:uFillTx/>
                <a:latin typeface="Aptos"/>
                <a:ea typeface="Aptos"/>
              </a:rPr>
              <a:t>Извлечение корня — корень (максимум) меняется местами с последним элементом и исключается из кучи​</a:t>
            </a:r>
            <a:endParaRPr lang="ru-RU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864000" lvl="1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800" b="0" u="none" strike="noStrike">
                <a:solidFill>
                  <a:schemeClr val="dk1"/>
                </a:solidFill>
                <a:effectLst/>
                <a:uFillTx/>
                <a:latin typeface="Aptos"/>
                <a:ea typeface="Aptos"/>
              </a:rPr>
              <a:t>Восстановление кучи (Heapify) — новый максимум оказывается в корне​</a:t>
            </a:r>
            <a:endParaRPr lang="ru-RU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864000" lvl="1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800" b="0" u="none" strike="noStrike">
                <a:solidFill>
                  <a:schemeClr val="dk1"/>
                </a:solidFill>
                <a:effectLst/>
                <a:uFillTx/>
                <a:latin typeface="Aptos"/>
                <a:ea typeface="Aptos"/>
              </a:rPr>
              <a:t>Повтор — шаги 2-3 повторяются, пока куча не опустеет</a:t>
            </a:r>
            <a:endParaRPr lang="ru-RU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ru-RU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Оптимизация малых массивов</a:t>
            </a:r>
            <a:endParaRPr lang="ru-RU" sz="4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defTabSz="914400">
              <a:lnSpc>
                <a:spcPct val="90000"/>
              </a:lnSpc>
              <a:buNone/>
            </a:pPr>
            <a:endParaRPr lang="ru-RU" sz="4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85000" lnSpcReduction="19999"/>
          </a:bodyPr>
          <a:lstStyle/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ru-RU" sz="2800" b="0" u="none" strike="noStrike">
                <a:solidFill>
                  <a:schemeClr val="dk1"/>
                </a:solidFill>
                <a:effectLst/>
                <a:uFillTx/>
                <a:latin typeface="Aptos"/>
                <a:ea typeface="Aptos"/>
              </a:rPr>
              <a:t>Когда размер подмассива становится меньше определённого порога (обычно 16-32 элемента), используется сортировка вставками, которая очень эффективна на малых массивах.</a:t>
            </a:r>
            <a:endParaRPr lang="ru-RU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Arial"/>
              <a:buChar char="•"/>
            </a:pPr>
            <a:r>
              <a:rPr lang="ru-RU" sz="2800" b="0" u="none" strike="noStrike">
                <a:solidFill>
                  <a:schemeClr val="dk1"/>
                </a:solidFill>
                <a:effectLst/>
                <a:uFillTx/>
                <a:latin typeface="Aptos"/>
                <a:ea typeface="Aptos"/>
              </a:rPr>
              <a:t>Принцип работы</a:t>
            </a:r>
            <a:endParaRPr lang="ru-RU" sz="2800" b="1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864000" lvl="1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800" b="0" u="none" strike="noStrike">
                <a:solidFill>
                  <a:schemeClr val="dk1"/>
                </a:solidFill>
                <a:effectLst/>
                <a:uFillTx/>
                <a:latin typeface="Aptos"/>
                <a:ea typeface="Aptos"/>
              </a:rPr>
              <a:t>Первый элемент считается отсортированным​</a:t>
            </a:r>
            <a:endParaRPr lang="ru-RU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864000" lvl="1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800" b="0" u="none" strike="noStrike">
                <a:solidFill>
                  <a:schemeClr val="dk1"/>
                </a:solidFill>
                <a:effectLst/>
                <a:uFillTx/>
                <a:latin typeface="Aptos"/>
                <a:ea typeface="Aptos"/>
              </a:rPr>
              <a:t>Берётся следующий элемент (ключ)</a:t>
            </a:r>
            <a:endParaRPr lang="ru-RU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864000" lvl="1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800" b="0" u="none" strike="noStrike">
                <a:solidFill>
                  <a:schemeClr val="dk1"/>
                </a:solidFill>
                <a:effectLst/>
                <a:uFillTx/>
                <a:latin typeface="Aptos"/>
                <a:ea typeface="Aptos"/>
              </a:rPr>
              <a:t>Ключ сравнивается с элементами отсортированной части справа налево​</a:t>
            </a:r>
            <a:endParaRPr lang="ru-RU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864000" lvl="1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800" b="0" u="none" strike="noStrike">
                <a:solidFill>
                  <a:schemeClr val="dk1"/>
                </a:solidFill>
                <a:effectLst/>
                <a:uFillTx/>
                <a:latin typeface="Aptos"/>
                <a:ea typeface="Aptos"/>
              </a:rPr>
              <a:t>Все элементы больше ключа сдвигаются вправо​</a:t>
            </a:r>
            <a:endParaRPr lang="ru-RU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864000" lvl="1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800" b="0" u="none" strike="noStrike">
                <a:solidFill>
                  <a:schemeClr val="dk1"/>
                </a:solidFill>
                <a:effectLst/>
                <a:uFillTx/>
                <a:latin typeface="Aptos"/>
                <a:ea typeface="Aptos"/>
              </a:rPr>
              <a:t>Ключ вставляется на освободившееся место</a:t>
            </a:r>
            <a:endParaRPr lang="ru-RU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864000" lvl="1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800" b="0" u="none" strike="noStrike">
                <a:solidFill>
                  <a:schemeClr val="dk1"/>
                </a:solidFill>
                <a:effectLst/>
                <a:uFillTx/>
                <a:latin typeface="Aptos"/>
                <a:ea typeface="Aptos"/>
              </a:rPr>
              <a:t>Повторяется для всех элементов​</a:t>
            </a:r>
            <a:endParaRPr lang="ru-RU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PlaceHolder 1"/>
          <p:cNvSpPr>
            <a:spLocks noGrp="1"/>
          </p:cNvSpPr>
          <p:nvPr>
            <p:ph type="title"/>
          </p:nvPr>
        </p:nvSpPr>
        <p:spPr>
          <a:xfrm>
            <a:off x="838080" y="597470"/>
            <a:ext cx="10515240" cy="860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r>
              <a:rPr lang="ru-RU" dirty="0">
                <a:solidFill>
                  <a:schemeClr val="dk1"/>
                </a:solidFill>
                <a:latin typeface="Aptos Display"/>
              </a:rPr>
              <a:t>Реализация (sort.cpp)</a:t>
            </a:r>
          </a:p>
          <a:p>
            <a:pPr indent="0">
              <a:buNone/>
            </a:pPr>
            <a:endParaRPr lang="ru-RU" sz="1800" b="0" u="none" strike="noStrike" dirty="0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0F0302020204030204"/>
        <a:ea typeface=""/>
        <a:cs typeface=""/>
      </a:majorFont>
      <a:minorFont>
        <a:latin typeface="Aptos" panose="020B000402020202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</TotalTime>
  <Words>0</Words>
  <Application>Microsoft Office PowerPoint</Application>
  <PresentationFormat>Широкоэкранный</PresentationFormat>
  <Paragraphs>0</Paragraphs>
  <Slides>7</Slides>
  <Notes>0</Notes>
  <HiddenSlides>0</HiddenSlide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</vt:i4>
      </vt:variant>
    </vt:vector>
  </HeadingPairs>
  <TitlesOfParts>
    <vt:vector size="8" baseType="lpstr">
      <vt:lpstr>Тема Office</vt:lpstr>
      <vt:lpstr>Интроспективная сортировка (Introsort) </vt:lpstr>
      <vt:lpstr>Презентация PowerPoint</vt:lpstr>
      <vt:lpstr>Основная идея</vt:lpstr>
      <vt:lpstr>QuickSort </vt:lpstr>
      <vt:lpstr>Переключение на HeapSort </vt:lpstr>
      <vt:lpstr>Оптимизация малых массивов </vt:lpstr>
      <vt:lpstr>Реализация (sort.cpp)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dc:description/>
  <cp:lastModifiedBy/>
  <cp:revision>46</cp:revision>
  <dcterms:created xsi:type="dcterms:W3CDTF">2025-11-29T14:34:20Z</dcterms:created>
  <dcterms:modified xsi:type="dcterms:W3CDTF">2025-12-06T10:07:45Z</dcterms:modified>
  <dc:language>en-US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Широкоэкранный</vt:lpwstr>
  </property>
  <property fmtid="{D5CDD505-2E9C-101B-9397-08002B2CF9AE}" pid="3" name="Slides">
    <vt:i4>6</vt:i4>
  </property>
</Properties>
</file>