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F0EACB-DC20-4AE6-9409-A08CE4D26ADB}" v="107" dt="2025-11-29T14:40:48.3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2" autoAdjust="0"/>
    <p:restoredTop sz="94660"/>
  </p:normalViewPr>
  <p:slideViewPr>
    <p:cSldViewPr snapToGrid="0">
      <p:cViewPr varScale="1">
        <p:scale>
          <a:sx n="89" d="100"/>
          <a:sy n="89" d="100"/>
        </p:scale>
        <p:origin x="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079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371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636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29.11.2025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576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29.11.2025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002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29.11.2025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5335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29.11.2025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8754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29.11.2025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5695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29.11.2025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4169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5727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22617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FB779-270B-4192-84BA-A697F48306DC}" type="datetimeFigureOut">
              <a:rPr lang="ru-RU" smtClean="0"/>
              <a:t>29.11.2025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4979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/>
              <a:t>Интроспективная сортировка (</a:t>
            </a:r>
            <a:r>
              <a:rPr lang="ru-RU" err="1"/>
              <a:t>Introsort</a:t>
            </a:r>
            <a:r>
              <a:rPr lang="ru-RU"/>
              <a:t>)</a:t>
            </a:r>
          </a:p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Подготовил: </a:t>
            </a:r>
            <a:r>
              <a:rPr lang="ru-RU" dirty="0" err="1"/>
              <a:t>Шапаренко</a:t>
            </a:r>
            <a:r>
              <a:rPr lang="ru-RU" dirty="0"/>
              <a:t> Фёдор Александрович КВБО-11-25</a:t>
            </a:r>
          </a:p>
        </p:txBody>
      </p:sp>
    </p:spTree>
    <p:extLst>
      <p:ext uri="{BB962C8B-B14F-4D97-AF65-F5344CB8AC3E}">
        <p14:creationId xmlns:p14="http://schemas.microsoft.com/office/powerpoint/2010/main" val="1351651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716FFC-7F7C-02AD-87DF-B69FD2A6A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D81A56F-55A6-0750-FB12-B754212914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>
                <a:ea typeface="+mn-lt"/>
                <a:cs typeface="+mn-lt"/>
              </a:rPr>
              <a:t>Интроспективная сортировка была разработана Дэвидом </a:t>
            </a:r>
            <a:r>
              <a:rPr lang="ru-RU" dirty="0" err="1">
                <a:ea typeface="+mn-lt"/>
                <a:cs typeface="+mn-lt"/>
              </a:rPr>
              <a:t>Мюссером</a:t>
            </a:r>
            <a:r>
              <a:rPr lang="ru-RU" dirty="0">
                <a:ea typeface="+mn-lt"/>
                <a:cs typeface="+mn-lt"/>
              </a:rPr>
              <a:t> в 1997 году как решение проблемы деградации производительности быстрой сортировки в худшем случае. Сегодня этот алгоритм реализован в C++ функции </a:t>
            </a:r>
            <a:r>
              <a:rPr lang="ru-RU" dirty="0" err="1">
                <a:ea typeface="+mn-lt"/>
                <a:cs typeface="+mn-lt"/>
              </a:rPr>
              <a:t>std</a:t>
            </a:r>
            <a:r>
              <a:rPr lang="ru-RU" dirty="0">
                <a:ea typeface="+mn-lt"/>
                <a:cs typeface="+mn-lt"/>
              </a:rPr>
              <a:t>::</a:t>
            </a:r>
            <a:r>
              <a:rPr lang="ru-RU" dirty="0" err="1">
                <a:ea typeface="+mn-lt"/>
                <a:cs typeface="+mn-lt"/>
              </a:rPr>
              <a:t>sort</a:t>
            </a:r>
            <a:r>
              <a:rPr lang="ru-RU" dirty="0">
                <a:ea typeface="+mn-lt"/>
                <a:cs typeface="+mn-lt"/>
              </a:rPr>
              <a:t>()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882189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F48062-55C1-37D9-93B0-F11120C85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Основная идея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D8E3EB3-E48E-6B50-B0F0-D883A0B0A5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sz="2600"/>
              <a:t>Интроспективная сортировка - это гибридный алгоритм, который объединяет сильные стороны трёх различных алгоритмов сортировки:</a:t>
            </a:r>
            <a:endParaRPr lang="en-US" sz="2600"/>
          </a:p>
          <a:p>
            <a:r>
              <a:rPr lang="ru-RU" sz="2600" b="1" dirty="0"/>
              <a:t>Быстрая сортировка (</a:t>
            </a:r>
            <a:r>
              <a:rPr lang="ru-RU" sz="2600" b="1" dirty="0" err="1"/>
              <a:t>QuickSort</a:t>
            </a:r>
            <a:r>
              <a:rPr lang="ru-RU" sz="2600" b="1" dirty="0"/>
              <a:t>)</a:t>
            </a:r>
            <a:r>
              <a:rPr lang="ru-RU" sz="2600" dirty="0"/>
              <a:t> - основной алгоритм, эффективный в среднем случае</a:t>
            </a:r>
            <a:endParaRPr lang="en-US" sz="2600" dirty="0"/>
          </a:p>
          <a:p>
            <a:r>
              <a:rPr lang="ru-RU" sz="2600" b="1" dirty="0"/>
              <a:t>Пирамидальная сортировка (</a:t>
            </a:r>
            <a:r>
              <a:rPr lang="ru-RU" sz="2600" b="1" dirty="0" err="1"/>
              <a:t>HeapSort</a:t>
            </a:r>
            <a:r>
              <a:rPr lang="ru-RU" sz="2600" b="1" dirty="0"/>
              <a:t>)</a:t>
            </a:r>
            <a:r>
              <a:rPr lang="ru-RU" sz="2600" dirty="0"/>
              <a:t> - используется как "страховка" при глубокой рекурсии</a:t>
            </a:r>
            <a:endParaRPr lang="en-US" sz="2600" dirty="0"/>
          </a:p>
          <a:p>
            <a:r>
              <a:rPr lang="ru-RU" sz="2600" b="1"/>
              <a:t>Сортировка вставками (InsertionSort)</a:t>
            </a:r>
            <a:r>
              <a:rPr lang="ru-RU" sz="2600"/>
              <a:t> - применяется для малых подмассивов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583118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E3507A-82DE-883A-E076-109830A14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QuickSort</a:t>
            </a:r>
          </a:p>
          <a:p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29470A-5F31-34EF-CF6A-0A29CB0536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>
                <a:ea typeface="+mn-lt"/>
                <a:cs typeface="+mn-lt"/>
              </a:rPr>
              <a:t>Алгоритм начинает работу как обычная быстрая сортировка. Выбирается опорный элемент (pivot), массив разделяется на две части, и процесс рекурсивно повторяется.</a:t>
            </a:r>
            <a:endParaRPr lang="ru-RU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7761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B5C0B5-3FB2-A353-0AB3-7143413C4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Переключение на </a:t>
            </a:r>
            <a:r>
              <a:rPr lang="ru-RU" dirty="0" err="1"/>
              <a:t>HeapSort</a:t>
            </a:r>
          </a:p>
          <a:p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EC082A-C9C1-8AE7-A8C6-5412B87DD6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>
                <a:ea typeface="+mn-lt"/>
                <a:cs typeface="+mn-lt"/>
              </a:rPr>
              <a:t>Если устанавливается максимальная глубина рекурсии, равная </a:t>
            </a:r>
            <a:r>
              <a:rPr lang="ru-RU" b="1" dirty="0">
                <a:ea typeface="+mn-lt"/>
                <a:cs typeface="+mn-lt"/>
              </a:rPr>
              <a:t>2 × </a:t>
            </a:r>
            <a:r>
              <a:rPr lang="ru-RU" b="1" dirty="0" err="1">
                <a:ea typeface="+mn-lt"/>
                <a:cs typeface="+mn-lt"/>
              </a:rPr>
              <a:t>log</a:t>
            </a:r>
            <a:r>
              <a:rPr lang="ru-RU" b="1" dirty="0">
                <a:ea typeface="+mn-lt"/>
                <a:cs typeface="+mn-lt"/>
              </a:rPr>
              <a:t>₂(n)</a:t>
            </a:r>
            <a:r>
              <a:rPr lang="ru-RU" dirty="0">
                <a:ea typeface="+mn-lt"/>
                <a:cs typeface="+mn-lt"/>
              </a:rPr>
              <a:t>, где n - размер массива, то алгоритм понимает, что попал в неблагоприятный случай, и переключается на пирамидальную сортировку для текущего </a:t>
            </a:r>
            <a:r>
              <a:rPr lang="ru-RU" dirty="0" err="1">
                <a:ea typeface="+mn-lt"/>
                <a:cs typeface="+mn-lt"/>
              </a:rPr>
              <a:t>подмассива</a:t>
            </a:r>
            <a:r>
              <a:rPr lang="ru-RU" dirty="0">
                <a:ea typeface="+mn-lt"/>
                <a:cs typeface="+mn-lt"/>
              </a:rPr>
              <a:t>. Это гарантирует, что худшая временная сложность не превысит O(n </a:t>
            </a:r>
            <a:r>
              <a:rPr lang="ru-RU" dirty="0" err="1">
                <a:ea typeface="+mn-lt"/>
                <a:cs typeface="+mn-lt"/>
              </a:rPr>
              <a:t>log</a:t>
            </a:r>
            <a:r>
              <a:rPr lang="ru-RU" dirty="0">
                <a:ea typeface="+mn-lt"/>
                <a:cs typeface="+mn-lt"/>
              </a:rPr>
              <a:t> n).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0496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77A8F93-9BF6-A3B5-B9BD-981D053D0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Оптимизация малых массивов</a:t>
            </a:r>
          </a:p>
          <a:p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BA20E9-3670-BC72-F7BE-65FDB1E78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>
                <a:ea typeface="+mn-lt"/>
                <a:cs typeface="+mn-lt"/>
              </a:rPr>
              <a:t>Когда размер </a:t>
            </a:r>
            <a:r>
              <a:rPr lang="ru-RU" dirty="0" err="1">
                <a:ea typeface="+mn-lt"/>
                <a:cs typeface="+mn-lt"/>
              </a:rPr>
              <a:t>подмассива</a:t>
            </a:r>
            <a:r>
              <a:rPr lang="ru-RU" dirty="0">
                <a:ea typeface="+mn-lt"/>
                <a:cs typeface="+mn-lt"/>
              </a:rPr>
              <a:t> становится меньше определённого порога (обычно 16-32 элемента), используется сортировка вставками, которая очень эффективна на малых массивах.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7073912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Широкоэкранный</PresentationFormat>
  <Paragraphs>0</Paragraphs>
  <Slides>6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7" baseType="lpstr">
      <vt:lpstr>Тема Office</vt:lpstr>
      <vt:lpstr>Интроспективная сортировка (Introsort) </vt:lpstr>
      <vt:lpstr>Презентация PowerPoint</vt:lpstr>
      <vt:lpstr>Основная идея</vt:lpstr>
      <vt:lpstr>QuickSort </vt:lpstr>
      <vt:lpstr>Переключение на HeapSort </vt:lpstr>
      <vt:lpstr>Оптимизация малых массивов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41</cp:revision>
  <dcterms:created xsi:type="dcterms:W3CDTF">2025-11-29T14:34:20Z</dcterms:created>
  <dcterms:modified xsi:type="dcterms:W3CDTF">2025-11-29T14:41:37Z</dcterms:modified>
</cp:coreProperties>
</file>